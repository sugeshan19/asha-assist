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2743200"/>
            <a:ext cx="73152" cy="201168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A8CC"/>
                </a:solidFill>
                <a:latin typeface="Calibri"/>
              </a:rPr>
              <a:t>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9FF"/>
                </a:solidFill>
                <a:latin typeface="Calibri"/>
              </a:rPr>
              <a:t>AI Rural Health
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3840480" cy="45720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513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Connecting Frontlines. Saving Lives.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4008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A8CC"/>
                </a:solidFill>
                <a:latin typeface="Calibri"/>
              </a:rPr>
              <a:t>International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1430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8096"/>
                </a:solidFill>
                <a:latin typeface="Calibri"/>
              </a:rPr>
              <a:t>Healthcare × AI × Social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82880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>
                <a:solidFill>
                  <a:srgbClr val="2DC07F"/>
                </a:solidFill>
                <a:latin typeface="Calibri"/>
              </a:rPr>
              <a:t>  </a:t>
            </a:r>
            <a:r>
              <a:rPr sz="1450">
                <a:solidFill>
                  <a:srgbClr val="F4F9FF"/>
                </a:solidFill>
                <a:latin typeface="Calibri"/>
              </a:rPr>
              <a:t>🌐  Full-stack production-ready platform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2DC07F"/>
                </a:solidFill>
                <a:latin typeface="Calibri"/>
              </a:rPr>
              <a:t>  </a:t>
            </a:r>
            <a:r>
              <a:rPr sz="1450">
                <a:solidFill>
                  <a:srgbClr val="F4F9FF"/>
                </a:solidFill>
                <a:latin typeface="Calibri"/>
              </a:rPr>
              <a:t>🤖  AI symptom triage (6 diseases)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2DC07F"/>
                </a:solidFill>
                <a:latin typeface="Calibri"/>
              </a:rPr>
              <a:t>  </a:t>
            </a:r>
            <a:r>
              <a:rPr sz="1450">
                <a:solidFill>
                  <a:srgbClr val="F4F9FF"/>
                </a:solidFill>
                <a:latin typeface="Calibri"/>
              </a:rPr>
              <a:t>📱  Mobile-first ASHA worker interface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2DC07F"/>
                </a:solidFill>
                <a:latin typeface="Calibri"/>
              </a:rPr>
              <a:t>  </a:t>
            </a:r>
            <a:r>
              <a:rPr sz="1450">
                <a:solidFill>
                  <a:srgbClr val="F4F9FF"/>
                </a:solidFill>
                <a:latin typeface="Calibri"/>
              </a:rPr>
              <a:t>🏥  Real-time doctor alert system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2DC07F"/>
                </a:solidFill>
                <a:latin typeface="Calibri"/>
              </a:rPr>
              <a:t>  </a:t>
            </a:r>
            <a:r>
              <a:rPr sz="1450">
                <a:solidFill>
                  <a:srgbClr val="F4F9FF"/>
                </a:solidFill>
                <a:latin typeface="Calibri"/>
              </a:rPr>
              <a:t>📊  Disease surveillance &amp; outbreak detection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2DC07F"/>
                </a:solidFill>
                <a:latin typeface="Calibri"/>
              </a:rPr>
              <a:t>  </a:t>
            </a:r>
            <a:r>
              <a:rPr sz="1450">
                <a:solidFill>
                  <a:srgbClr val="F4F9FF"/>
                </a:solidFill>
                <a:latin typeface="Calibri"/>
              </a:rPr>
              <a:t>🔔  Twilio SMS  +  JWT Role-based Auth</a:t>
            </a:r>
          </a:p>
          <a:p>
            <a:pPr>
              <a:spcAft>
                <a:spcPts val="400"/>
              </a:spcAft>
            </a:pPr>
            <a:r>
              <a:rPr sz="1450">
                <a:solidFill>
                  <a:srgbClr val="2DC07F"/>
                </a:solidFill>
                <a:latin typeface="Calibri"/>
              </a:rPr>
              <a:t>  </a:t>
            </a:r>
            <a:r>
              <a:rPr sz="1450">
                <a:solidFill>
                  <a:srgbClr val="F4F9FF"/>
                </a:solidFill>
                <a:latin typeface="Calibri"/>
              </a:rPr>
              <a:t>🐳  Dockerized &amp; ready to deploy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Rural healthcare in India is broken at the last mile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4688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468880" cy="50292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800M+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people in rural India rely on ASHA workers as
their first healthcare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463040"/>
            <a:ext cx="24688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46304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463040"/>
            <a:ext cx="2468880" cy="50292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of cases arrive at PHCs  already at a
critical or late-stage 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463040"/>
            <a:ext cx="24688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46304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463040"/>
            <a:ext cx="2468880" cy="50292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Manual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Paper-based patient tracking leads to
lost data and zero trend visibility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463040"/>
            <a:ext cx="246888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1463040"/>
            <a:ext cx="2468880" cy="21031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463040"/>
            <a:ext cx="2468880" cy="50292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Zero AI Triage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2057400"/>
            <a:ext cx="2286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No decision-support tool exists at the
field level for frontline workers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40480"/>
            <a:ext cx="11274552" cy="65836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95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Result: Delayed triage → missed outbreaks → preventable deaths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06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718096"/>
                </a:solidFill>
                <a:latin typeface="Calibri"/>
              </a:rPr>
              <a:t>"Every hour of delay in High-risk case referral increases mortality risk by 12%"  – WHO Rural Health Report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E53E3E"/>
                </a:solidFill>
                <a:latin typeface="Calibri"/>
              </a:rPr>
              <a:t>▸  </a:t>
            </a:r>
            <a:r>
              <a:rPr sz="1250">
                <a:solidFill>
                  <a:srgbClr val="1A202C"/>
                </a:solidFill>
                <a:latin typeface="Calibri"/>
              </a:rPr>
              <a:t>ASHA workers manage 1,000+ patients each, with no digital tools and no real-time escalation path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E53E3E"/>
                </a:solidFill>
                <a:latin typeface="Calibri"/>
              </a:rPr>
              <a:t>▸  </a:t>
            </a:r>
            <a:r>
              <a:rPr sz="1250">
                <a:solidFill>
                  <a:srgbClr val="1A202C"/>
                </a:solidFill>
                <a:latin typeface="Calibri"/>
              </a:rPr>
              <a:t>District hospitals are overwhelmed because early-stage detection never happened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ASHA Assist — A connected rural health intelligence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6E70"/>
                </a:solidFill>
                <a:latin typeface="Calibri"/>
              </a:rPr>
              <a:t>One Platform. Three Stakeholders. Zero Gaps.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6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657600" cy="54864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📱  ASHA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33472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Mobile-first patient registration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Voice-enabled symptom input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Instant AI triage results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Photo prescription upload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Offline-ready UX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01168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011680"/>
            <a:ext cx="3657600" cy="54864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05740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🤖  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633472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Rule-based + ML symptom matching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Predicts 6 high-burden diseases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Risk scoring: Low / Medium / High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Differential diagnosis list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Optional OpenAI enhancement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01168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2DC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657600" cy="54864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05740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🏥  Doctor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633472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2DC07F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Real-time high-risk alerts (SMS)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DC07F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Full patient history &amp; vitals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DC07F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Disease trend charts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DC07F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Outbreak detection panel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DC07F"/>
                </a:solidFill>
                <a:latin typeface="Calibri"/>
              </a:rPr>
              <a:t>✓  </a:t>
            </a:r>
            <a:r>
              <a:rPr sz="1250">
                <a:solidFill>
                  <a:srgbClr val="1A202C"/>
                </a:solidFill>
                <a:latin typeface="Calibri"/>
              </a:rPr>
              <a:t>Review &amp; approve care plans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Production-grade, modular, and containerized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011680" cy="658368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63040"/>
            <a:ext cx="9235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57276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React  +  Vite  +  Material UI  +  Recharts  +  React Router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011680" cy="658368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9514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Backend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240280"/>
            <a:ext cx="9235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006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3500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Node.js  +  Express  +  Mongoose  +  JWT Auth  +  Helmet  +  Rate-Limit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2011680" cy="658368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7238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017520"/>
            <a:ext cx="9235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2DC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312724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Python  +  FastAPI  +  Custom Symptom Engine  +  OpenAI (optional)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2011680" cy="6583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4962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794760"/>
            <a:ext cx="9235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390448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MongoDB Atlas  +  GeoJSON 2dsphere Indexes  +  Full CRUD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2011680" cy="65836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2686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Alerts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572000"/>
            <a:ext cx="9235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46817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Twilio SMS API  —  auto-fired on High-risk screening outcomes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2011680" cy="658368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04103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5349240"/>
            <a:ext cx="9235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40" y="545896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Docker Compose  +  Nginx  +  Multi-container orchestration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72200"/>
            <a:ext cx="11274552" cy="45720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190488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Every component is interchangeable and independently deployable — built for scale from Day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End-to-end request flow &amp; component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45920"/>
            <a:ext cx="1828800" cy="100584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📱 ASHA
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A8CC"/>
                </a:solidFill>
                <a:latin typeface="Calibri"/>
              </a:rPr>
              <a:t>──────►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463040"/>
            <a:ext cx="2286000" cy="13716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508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⚙️  Backend API
Node.js + Express
JWT · Rate Limit · Helmet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C07F"/>
                </a:solidFill>
                <a:latin typeface="Calibri"/>
              </a:rPr>
              <a:t>──────►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463040"/>
            <a:ext cx="2286000" cy="137160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🤖  AI Service
FastAPI + Python
Disease · Risk ·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834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A500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3154680"/>
            <a:ext cx="2286000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🗄  MongoDB
GeoJSON · Atlas · Indexes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834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53E3E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154680"/>
            <a:ext cx="2286000" cy="10058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🔔  Twilio SMS
Auto-fired on High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463040"/>
            <a:ext cx="2560320" cy="2743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0876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9FF"/>
                </a:solidFill>
                <a:latin typeface="Calibri"/>
              </a:rPr>
              <a:t>🏥  Doctor
Dashboard
• High-risk queue
• Analytics
• Outbreak panel
• Review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02C"/>
                </a:solidFill>
                <a:latin typeface="Calibri"/>
              </a:rPr>
              <a:t>──────►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34340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▸  </a:t>
            </a:r>
            <a:r>
              <a:rPr sz="1250">
                <a:solidFill>
                  <a:srgbClr val="1A202C"/>
                </a:solidFill>
                <a:latin typeface="Calibri"/>
              </a:rPr>
              <a:t>1 · ASHA registers patient + symptoms on mobile app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▸  </a:t>
            </a:r>
            <a:r>
              <a:rPr sz="1250">
                <a:solidFill>
                  <a:srgbClr val="1A202C"/>
                </a:solidFill>
                <a:latin typeface="Calibri"/>
              </a:rPr>
              <a:t>2 · Backend validates, stores, and calls AI service /predict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▸  </a:t>
            </a:r>
            <a:r>
              <a:rPr sz="1250">
                <a:solidFill>
                  <a:srgbClr val="1A202C"/>
                </a:solidFill>
                <a:latin typeface="Calibri"/>
              </a:rPr>
              <a:t>3 · AI returns disease, risk level, recommendation &amp; confidence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▸  </a:t>
            </a:r>
            <a:r>
              <a:rPr sz="1250">
                <a:solidFill>
                  <a:srgbClr val="1A202C"/>
                </a:solidFill>
                <a:latin typeface="Calibri"/>
              </a:rPr>
              <a:t>4 · If HIGH risk → Twilio SMS fires instantly to on-call doctor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6E70"/>
                </a:solidFill>
                <a:latin typeface="Calibri"/>
              </a:rPr>
              <a:t>▸  </a:t>
            </a:r>
            <a:r>
              <a:rPr sz="1250">
                <a:solidFill>
                  <a:srgbClr val="1A202C"/>
                </a:solidFill>
                <a:latin typeface="Calibri"/>
              </a:rPr>
              <a:t>5 · Doctor dashboard visualises all cases, trends, and outbreak signals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AI Symptom Triage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Instant disease prediction with risk classification at point-of-care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006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03520" cy="50292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03120"/>
            <a:ext cx="1097280" cy="45720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396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3969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ASHA enters symptoms by text, form, or voice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761487"/>
            <a:ext cx="1097280" cy="45720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NLP 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98063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Keywords extracted + matched to disease symptom profiles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419856"/>
            <a:ext cx="1097280" cy="45720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564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56432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Weighted scoring across 6 disease models simultaneously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078224"/>
            <a:ext cx="1097280" cy="45720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148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Risk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11480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Low / Medium / High — based on score thresholds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736592"/>
            <a:ext cx="1097280" cy="45720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731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77316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Disease, Risk, Recommendation, Confidence (0–1), Differentials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394959"/>
            <a:ext cx="1097280" cy="45720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43153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3153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High-risk result → backend triggers SMS alert automatically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463040"/>
            <a:ext cx="5486400" cy="50292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Diseases Covered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039112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  </a:t>
            </a:r>
            <a:r>
              <a:rPr sz="1300">
                <a:solidFill>
                  <a:srgbClr val="1A202C"/>
                </a:solidFill>
                <a:latin typeface="Calibri"/>
              </a:rPr>
              <a:t>🦟 Dengue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  </a:t>
            </a:r>
            <a:r>
              <a:rPr sz="1300">
                <a:solidFill>
                  <a:srgbClr val="1A202C"/>
                </a:solidFill>
                <a:latin typeface="Calibri"/>
              </a:rPr>
              <a:t>🩸 Malaria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  </a:t>
            </a:r>
            <a:r>
              <a:rPr sz="1300">
                <a:solidFill>
                  <a:srgbClr val="1A202C"/>
                </a:solidFill>
                <a:latin typeface="Calibri"/>
              </a:rPr>
              <a:t>🫁 Tuberculosis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  </a:t>
            </a:r>
            <a:r>
              <a:rPr sz="1300">
                <a:solidFill>
                  <a:srgbClr val="1A202C"/>
                </a:solidFill>
                <a:latin typeface="Calibri"/>
              </a:rPr>
              <a:t>💉 Anemia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  </a:t>
            </a:r>
            <a:r>
              <a:rPr sz="1300">
                <a:solidFill>
                  <a:srgbClr val="1A202C"/>
                </a:solidFill>
                <a:latin typeface="Calibri"/>
              </a:rPr>
              <a:t>😷 Respiratory Infection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  </a:t>
            </a:r>
            <a:r>
              <a:rPr sz="1300">
                <a:solidFill>
                  <a:srgbClr val="1A202C"/>
                </a:solidFill>
                <a:latin typeface="Calibri"/>
              </a:rPr>
              <a:t>🤒 Typhoid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840480"/>
            <a:ext cx="5486400" cy="2286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886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CC"/>
                </a:solidFill>
                <a:latin typeface="Calibri"/>
              </a:rPr>
              <a:t>Sample AI 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2519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DC07F"/>
                </a:solidFill>
                <a:latin typeface="Courier New"/>
              </a:rPr>
              <a:t>{
  "disease_prediction": "Dengue",
  "risk_level":         "High",
  "recommendation":     "Refer to PHC immediately",
  "confidence":         0.91,
  "differentials":      ["Malaria", "Typhoid"]
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ASHA Worker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Designed for low-tech environments — 3 taps to a triage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737360" cy="17373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
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4F9FF"/>
                </a:solidFill>
                <a:latin typeface="Calibri"/>
              </a:rPr>
              <a:t>Secure JWT
role-based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18096"/>
                </a:solidFill>
                <a:latin typeface="Calibri"/>
              </a:rPr>
              <a:t>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554480"/>
            <a:ext cx="1737360" cy="173736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600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
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54203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4F9FF"/>
                </a:solidFill>
                <a:latin typeface="Calibri"/>
              </a:rPr>
              <a:t>Today's patients,
risk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18096"/>
                </a:solidFill>
                <a:latin typeface="Calibri"/>
              </a:rPr>
              <a:t>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1737360" cy="173736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600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
New Patient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54203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4F9FF"/>
                </a:solidFill>
                <a:latin typeface="Calibri"/>
              </a:rPr>
              <a:t>Register with
name, age, village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18096"/>
                </a:solidFill>
                <a:latin typeface="Calibri"/>
              </a:rPr>
              <a:t>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1737360" cy="17373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600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
Vitals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54203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4F9FF"/>
                </a:solidFill>
                <a:latin typeface="Calibri"/>
              </a:rPr>
              <a:t>BP, temp, SpO₂,
weight, pulse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18096"/>
                </a:solidFill>
                <a:latin typeface="Calibri"/>
              </a:rPr>
              <a:t>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554480"/>
            <a:ext cx="1737360" cy="17373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1600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
Symptoms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54203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4F9FF"/>
                </a:solidFill>
                <a:latin typeface="Calibri"/>
              </a:rPr>
              <a:t>Voice input /
checkbox /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2402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18096"/>
                </a:solidFill>
                <a:latin typeface="Calibri"/>
              </a:rPr>
              <a:t>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1554480"/>
            <a:ext cx="1737360" cy="17373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1600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
AI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542032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4F9FF"/>
                </a:solidFill>
                <a:latin typeface="Calibri"/>
              </a:rPr>
              <a:t>Disease + Risk +
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204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E70"/>
                </a:solidFill>
                <a:latin typeface="Calibri"/>
              </a:rPr>
              <a:t>Key UX Design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77639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✦  </a:t>
            </a:r>
            <a:r>
              <a:rPr sz="1300">
                <a:solidFill>
                  <a:srgbClr val="1A202C"/>
                </a:solidFill>
                <a:latin typeface="Calibri"/>
              </a:rPr>
              <a:t>Voice input first — many ASHA workers have limited typing proficiency in English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✦  </a:t>
            </a:r>
            <a:r>
              <a:rPr sz="1300">
                <a:solidFill>
                  <a:srgbClr val="1A202C"/>
                </a:solidFill>
                <a:latin typeface="Calibri"/>
              </a:rPr>
              <a:t>Material UI components with large tap targets and high-contrast colours for field use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✦  </a:t>
            </a:r>
            <a:r>
              <a:rPr sz="1300">
                <a:solidFill>
                  <a:srgbClr val="1A202C"/>
                </a:solidFill>
                <a:latin typeface="Calibri"/>
              </a:rPr>
              <a:t>All API calls fail gracefully with local state preservation — partial offline tolerance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✦  </a:t>
            </a:r>
            <a:r>
              <a:rPr sz="1300">
                <a:solidFill>
                  <a:srgbClr val="1A202C"/>
                </a:solidFill>
                <a:latin typeface="Calibri"/>
              </a:rPr>
              <a:t>AI results shown with clear colour-coded risk badges (green / amber / red) for instant comprehension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Doctor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From receiving alerts to approving care plans — all in one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00" cy="457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636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🚨 High-Risk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3911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E53E3E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Live list of High-risk screened patients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53E3E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Sorted by risk level + time of screening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53E3E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One-click to view full history + AI result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53E3E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Acknowledge / resolve alert in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00" cy="4572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5636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📊 Disease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3911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A8CC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Interactive bar chart: cases per disease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A8CC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Line chart: daily incidence trends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A8CC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Village burden heatmap data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A8CC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Powered by Recharts — real-time updates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486400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0390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⚠️ Outbreak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7939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A500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Automatic spike detection algorithm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A500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Cluster alerts when threshold crossed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A500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"Simulate Outbreak" for live demo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A500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Colour-coded severity banners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49039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2DC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486400" cy="45720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80390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📋 Patient Detail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79392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DC07F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Full vitals history across screenings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DC07F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AI result with confidence band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DC07F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Doctor review notes + status update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DC07F"/>
                </a:solidFill>
                <a:latin typeface="Calibri"/>
              </a:rPr>
              <a:t>→  </a:t>
            </a:r>
            <a:r>
              <a:rPr sz="1200">
                <a:solidFill>
                  <a:srgbClr val="1A202C"/>
                </a:solidFill>
                <a:latin typeface="Calibri"/>
              </a:rPr>
              <a:t>Differential diagnoses listed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Security &amp; Data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Built with OWASP-aligned security principles throughout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006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00" cy="475488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63624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🔐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6E70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JWT tokens with secret-key signing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6E70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Role-based access: asha · doctor · admin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6E70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Protected routes — no cross-role data access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6E70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Passwords hashed with bcrypt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54864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5486400" cy="475488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63624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🛡️ API Hardening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A8CC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Helmet.js — sets 15 security HTTP headers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A8CC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express-rate-limit — blocks brute-force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A8CC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CORS whitelist — restricted origins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A8CC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Input validation before DB writes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54864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2DC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5486400" cy="475488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49624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🗄️ Data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DC07F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MongoDB indexed + role-filtered queries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DC07F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GeoJSON data never exposed without auth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DC07F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Twilio credentials in environment variables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DC07F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No PII logged to console in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94760"/>
            <a:ext cx="54864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94760"/>
            <a:ext cx="5486400" cy="47548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849624"/>
            <a:ext cx="5266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📡 Transport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4340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A500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Nginx reverse proxy with TLS-ready config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A500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Docker network isolation per service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A500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AI service not publicly exposed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A500"/>
                </a:solidFill>
                <a:latin typeface="Calibri"/>
              </a:rPr>
              <a:t>✔  </a:t>
            </a:r>
            <a:r>
              <a:rPr sz="1200">
                <a:solidFill>
                  <a:srgbClr val="1A202C"/>
                </a:solidFill>
                <a:latin typeface="Calibri"/>
              </a:rPr>
              <a:t>Health endpoint rate-limited separately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Impact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A platform built to save lives at national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2651760" cy="192024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84831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CC"/>
                </a:solidFill>
                <a:latin typeface="Calibri"/>
              </a:rPr>
              <a:t>&lt; 30 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9FF"/>
                </a:solidFill>
                <a:latin typeface="Calibri"/>
              </a:rPr>
              <a:t>from symptom entry
to AI triage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508760"/>
            <a:ext cx="2651760" cy="192024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84831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CC"/>
                </a:solidFill>
                <a:latin typeface="Calibri"/>
              </a:rPr>
              <a:t>Instant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334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9FF"/>
                </a:solidFill>
                <a:latin typeface="Calibri"/>
              </a:rPr>
              <a:t>doctor SMS alert
for High-risk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2651760" cy="192024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554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084831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CC"/>
                </a:solidFill>
                <a:latin typeface="Calibri"/>
              </a:rPr>
              <a:t>Village-level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6334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9FF"/>
                </a:solidFill>
                <a:latin typeface="Calibri"/>
              </a:rPr>
              <a:t>outbreak detection
before it spreads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508760"/>
            <a:ext cx="2651760" cy="192024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554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084831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CC"/>
                </a:solidFill>
                <a:latin typeface="Calibri"/>
              </a:rPr>
              <a:t>800M+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63347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9FF"/>
                </a:solidFill>
                <a:latin typeface="Calibri"/>
              </a:rPr>
              <a:t>rural Indians who
could be reached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E70"/>
                </a:solidFill>
                <a:latin typeface="Calibri"/>
              </a:rPr>
              <a:t>Scalability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112745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▶  </a:t>
            </a:r>
            <a:r>
              <a:rPr sz="1300">
                <a:solidFill>
                  <a:srgbClr val="1A202C"/>
                </a:solidFill>
                <a:latin typeface="Calibri"/>
              </a:rPr>
              <a:t>Horizontal scaling: Dockerized microservices — scale AI service independently from backend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▶  </a:t>
            </a:r>
            <a:r>
              <a:rPr sz="1300">
                <a:solidFill>
                  <a:srgbClr val="1A202C"/>
                </a:solidFill>
                <a:latin typeface="Calibri"/>
              </a:rPr>
              <a:t>Offline-first mode: IndexedDB queue + background sync for zero-connectivity villages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▶  </a:t>
            </a:r>
            <a:r>
              <a:rPr sz="1300">
                <a:solidFill>
                  <a:srgbClr val="1A202C"/>
                </a:solidFill>
                <a:latin typeface="Calibri"/>
              </a:rPr>
              <a:t>WhatsApp alert bot: leverage WhatsApp Business API for doctors in low-signal areas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▶  </a:t>
            </a:r>
            <a:r>
              <a:rPr sz="1300">
                <a:solidFill>
                  <a:srgbClr val="1A202C"/>
                </a:solidFill>
                <a:latin typeface="Calibri"/>
              </a:rPr>
              <a:t>Federated ML: aggregate anonymized outcomes across PHCs and retrain prediction models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DC07F"/>
                </a:solidFill>
                <a:latin typeface="Calibri"/>
              </a:rPr>
              <a:t>▶  </a:t>
            </a:r>
            <a:r>
              <a:rPr sz="1300">
                <a:solidFill>
                  <a:srgbClr val="1A202C"/>
                </a:solidFill>
                <a:latin typeface="Calibri"/>
              </a:rPr>
              <a:t>Native Android app: Flutter/React Native with multilingual voice capture (Hindi, Tamil, Bengali…)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Live Demo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CC"/>
                </a:solidFill>
                <a:latin typeface="Calibri"/>
              </a:rPr>
              <a:t>Reproducible demo flow — runs entirely on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30352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006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303520" cy="475488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🚀  Setup in 3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18096"/>
                </a:solidFill>
                <a:latin typeface="Courier New"/>
              </a:rPr>
              <a:t># 1. Configure environment</a:t>
            </a:r>
          </a:p>
          <a:p>
            <a:r>
              <a:rPr sz="1100">
                <a:solidFill>
                  <a:srgbClr val="2DC07F"/>
                </a:solidFill>
                <a:latin typeface="Courier New"/>
              </a:rPr>
              <a:t>cp .env.example .env</a:t>
            </a:r>
          </a:p>
          <a:p>
            <a:r>
              <a:rPr sz="1100">
                <a:solidFill>
                  <a:srgbClr val="2DC07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718096"/>
                </a:solidFill>
                <a:latin typeface="Courier New"/>
              </a:rPr>
              <a:t># 2. Start all services</a:t>
            </a:r>
          </a:p>
          <a:p>
            <a:r>
              <a:rPr sz="1100">
                <a:solidFill>
                  <a:srgbClr val="2DC07F"/>
                </a:solidFill>
                <a:latin typeface="Courier New"/>
              </a:rPr>
              <a:t>docker-compose up --build</a:t>
            </a:r>
          </a:p>
          <a:p>
            <a:r>
              <a:rPr sz="1100">
                <a:solidFill>
                  <a:srgbClr val="2DC07F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718096"/>
                </a:solidFill>
                <a:latin typeface="Courier New"/>
              </a:rPr>
              <a:t># 3. Seed demo data</a:t>
            </a:r>
          </a:p>
          <a:p>
            <a:r>
              <a:rPr sz="1100">
                <a:solidFill>
                  <a:srgbClr val="2DC07F"/>
                </a:solidFill>
                <a:latin typeface="Courier New"/>
              </a:rPr>
              <a:t>docker exec -it asha_backend node seed.js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E70"/>
                </a:solidFill>
                <a:latin typeface="Calibri"/>
              </a:rPr>
              <a:t>Demo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28032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  <a:latin typeface="Courier New"/>
              </a:rPr>
              <a:t>Doctor:   doctor@asha.com  /  Doctor@123</a:t>
            </a:r>
          </a:p>
          <a:p>
            <a:pPr algn="l"/>
            <a:r>
              <a:rPr sz="1100" b="0">
                <a:solidFill>
                  <a:srgbClr val="1A202C"/>
                </a:solidFill>
                <a:latin typeface="Courier New"/>
              </a:rPr>
              <a:t>ASHA:     asha@asha.com    /  Asha@1234</a:t>
            </a:r>
          </a:p>
          <a:p>
            <a:pPr algn="l"/>
            <a:r>
              <a:rPr sz="1100" b="0">
                <a:solidFill>
                  <a:srgbClr val="1A202C"/>
                </a:solidFill>
                <a:latin typeface="Courier New"/>
              </a:rPr>
              <a:t>Admin:    admin@asha.com   /  Admin@123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486400" cy="475488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Demo Narrative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84831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Login as ASHA worker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Register a new patient (name, age, village, GPS)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Enter symptoms via voice: 'fever, headache, joint pain'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View AI result → Dengue · HIGH · Refer to PHC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Show auto-SMS sent to doctor (Twilio log)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Switch to Doctor login → see alert in queue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Open Analytics → disease bar chart + daily trend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Click 'Simulate Outbreak' → watch spike appear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Open Outbreak panel → village-level alert banner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00A8CC"/>
                </a:solidFill>
                <a:latin typeface="Calibri"/>
              </a:rPr>
              <a:t>►  </a:t>
            </a:r>
            <a:r>
              <a:rPr sz="1250">
                <a:solidFill>
                  <a:srgbClr val="1A202C"/>
                </a:solidFill>
                <a:latin typeface="Calibri"/>
              </a:rPr>
              <a:t>Review patient, add doctor notes → mark resolved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94457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ASHA ASSIST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A8CC"/>
                </a:solidFill>
                <a:latin typeface="Calibri"/>
              </a:rPr>
              <a:t>AI Rural Health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331720"/>
            <a:ext cx="3959352" cy="54864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9994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4F9FF"/>
                </a:solidFill>
                <a:latin typeface="Calibri"/>
              </a:rPr>
              <a:t>"Every ASHA worker deserves an AI co-pilot.
Every high-risk patient deserves a timely referral.
Every PHC deserves visibility into what's coming."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977639"/>
            <a:ext cx="2560320" cy="155448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4023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55371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Open Source
&amp; Extensible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977639"/>
            <a:ext cx="2560320" cy="155448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59" y="4023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455371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PHC-Ready
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977639"/>
            <a:ext cx="2560320" cy="155448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023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55371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ASHA + Doctor
+ AI Synergy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760720"/>
            <a:ext cx="7616952" cy="594360"/>
          </a:xfrm>
          <a:prstGeom prst="rect">
            <a:avLst/>
          </a:prstGeom>
          <a:solidFill>
            <a:srgbClr val="2DC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5797296"/>
            <a:ext cx="72237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Let's connect the last mile. Let's deploy this. Let's save lives.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ASHA Assist  |  AI Rural Health Intelligence Platform  |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